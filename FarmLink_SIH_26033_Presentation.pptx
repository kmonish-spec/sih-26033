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365760"/>
            <a:ext cx="3383280" cy="3383280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411480"/>
            <a:ext cx="2286000" cy="2286000"/>
          </a:xfrm>
          <a:prstGeom prst="ellipse">
            <a:avLst/>
          </a:prstGeom>
          <a:solidFill>
            <a:srgbClr val="BEDA85"/>
          </a:solidFill>
          <a:ln>
            <a:solidFill>
              <a:srgbClr val="BED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1005840"/>
            <a:ext cx="1143000" cy="1143000"/>
          </a:xfrm>
          <a:prstGeom prst="ellipse">
            <a:avLst/>
          </a:prstGeom>
          <a:solidFill>
            <a:srgbClr val="E1AB44"/>
          </a:solidFill>
          <a:ln>
            <a:solidFill>
              <a:srgbClr val="E1A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310896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BEDA85"/>
                </a:solidFill>
                <a:latin typeface="Aptos"/>
              </a:rPr>
              <a:t>SIH 26033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7040880" cy="9144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"/>
              </a:rPr>
              <a:t>FarmLink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23160"/>
            <a:ext cx="731520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500" b="1">
                <a:solidFill>
                  <a:srgbClr val="BEDA85"/>
                </a:solidFill>
                <a:latin typeface="Aptos"/>
              </a:rPr>
              <a:t>From Our Farms to Our Homes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246120"/>
            <a:ext cx="6675120" cy="9144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A smarter way to connect farmers with nearby buyers,
reduce avoidable costs, and plan deliveries better.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892040"/>
            <a:ext cx="3749039" cy="530352"/>
          </a:xfrm>
          <a:prstGeom prst="round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5047488"/>
            <a:ext cx="3493008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AGRICULTURE  •  FOODTECH  •  RURAL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6199632"/>
            <a:ext cx="3474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100" b="0">
                <a:solidFill>
                  <a:srgbClr val="C3D7C7"/>
                </a:solidFill>
                <a:latin typeface="Aptos"/>
              </a:rPr>
              <a:t>Student project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193F2E"/>
                </a:solidFill>
                <a:latin typeface="Aptos"/>
              </a:rPr>
              <a:t>The Problem: A Price Gap Between Farm and Home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731520" cy="50292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900" b="0">
                <a:solidFill>
                  <a:srgbClr val="5D6C62"/>
                </a:solidFill>
                <a:latin typeface="Aptos"/>
              </a:rPr>
              <a:t>SIH 26033  •  FARMLINK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5D6C62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36576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5D6C62"/>
                </a:solidFill>
                <a:latin typeface="Aptos"/>
              </a:rPr>
              <a:t>An illustrative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063240" cy="1828800"/>
          </a:xfrm>
          <a:prstGeom prst="roundRect">
            <a:avLst/>
          </a:prstGeom>
          <a:solidFill>
            <a:srgbClr val="E5EFDC"/>
          </a:solidFill>
          <a:ln>
            <a:solidFill>
              <a:srgbClr val="E5E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2606040" cy="594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3600" b="1">
                <a:solidFill>
                  <a:srgbClr val="377E4F"/>
                </a:solidFill>
                <a:latin typeface="Aptos"/>
              </a:rPr>
              <a:t>₹10/kg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260604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400" b="0">
                <a:solidFill>
                  <a:srgbClr val="26352C"/>
                </a:solidFill>
                <a:latin typeface="Aptos"/>
              </a:rPr>
              <a:t>Farmer selling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240280"/>
            <a:ext cx="64008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3400" b="1">
                <a:solidFill>
                  <a:srgbClr val="E1AB44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691640"/>
            <a:ext cx="3063240" cy="1828800"/>
          </a:xfrm>
          <a:prstGeom prst="roundRect">
            <a:avLst/>
          </a:prstGeom>
          <a:solidFill>
            <a:srgbClr val="FAE9DA"/>
          </a:solidFill>
          <a:ln>
            <a:solidFill>
              <a:srgbClr val="FAE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938528"/>
            <a:ext cx="2606040" cy="594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3600" b="1">
                <a:solidFill>
                  <a:srgbClr val="AE4C3A"/>
                </a:solidFill>
                <a:latin typeface="Aptos"/>
              </a:rPr>
              <a:t>₹30/kg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697480"/>
            <a:ext cx="260604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400" b="0">
                <a:solidFill>
                  <a:srgbClr val="26352C"/>
                </a:solidFill>
                <a:latin typeface="Aptos"/>
              </a:rPr>
              <a:t>Consumer buying price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2461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00200"/>
            <a:ext cx="82296" cy="1965960"/>
          </a:xfrm>
          <a:prstGeom prst="rect">
            <a:avLst/>
          </a:prstGeom>
          <a:solidFill>
            <a:srgbClr val="E1AB44"/>
          </a:solidFill>
          <a:ln>
            <a:solidFill>
              <a:srgbClr val="E1A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746504"/>
            <a:ext cx="286207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What widens the gap?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139696"/>
            <a:ext cx="2862072" cy="1325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0">
                <a:solidFill>
                  <a:srgbClr val="5D6C62"/>
                </a:solidFill>
                <a:latin typeface="Aptos"/>
              </a:rPr>
              <a:t>Transportation • storage • handling • multiple intermediaries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10515600" cy="6400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100" b="1">
                <a:solidFill>
                  <a:srgbClr val="193F2E"/>
                </a:solidFill>
                <a:latin typeface="Aptos"/>
              </a:rPr>
              <a:t>The difference is not always profit. Costs can build up between harvesting and the final sale.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10515600" cy="7315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0">
                <a:solidFill>
                  <a:srgbClr val="5D6C62"/>
                </a:solidFill>
                <a:latin typeface="Aptos"/>
              </a:rPr>
              <a:t>The challenge is limited buyer choice, limited price information and avoidable costs—not that every intermediary is unnecessary.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193F2E"/>
                </a:solidFill>
                <a:latin typeface="Aptos"/>
              </a:rPr>
              <a:t>Our Solution: FarmLink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731520" cy="50292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900" b="0">
                <a:solidFill>
                  <a:srgbClr val="5D6C62"/>
                </a:solidFill>
                <a:latin typeface="Aptos"/>
              </a:rPr>
              <a:t>SIH 26033  •  FARMLINK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5D6C62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34440"/>
            <a:ext cx="1060704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100" b="1">
                <a:solidFill>
                  <a:srgbClr val="193F2E"/>
                </a:solidFill>
                <a:latin typeface="Aptos"/>
              </a:rPr>
              <a:t>A digital bridge connecting farmers / FPOs with households, shops, hotels and bulk buyers.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2331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95728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1">
                <a:solidFill>
                  <a:srgbClr val="377E4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761488"/>
            <a:ext cx="2011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Farmers / FPOs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200400"/>
            <a:ext cx="2011680" cy="6583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List crop, quantity,
price and harvest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907792"/>
            <a:ext cx="36576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2400" b="1">
                <a:solidFill>
                  <a:srgbClr val="E1AB44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240280"/>
            <a:ext cx="2331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395728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1">
                <a:solidFill>
                  <a:srgbClr val="377E4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761488"/>
            <a:ext cx="2011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FarmLink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200400"/>
            <a:ext cx="2011680" cy="6583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Match supply with
nearby demand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907792"/>
            <a:ext cx="36576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2400" b="1">
                <a:solidFill>
                  <a:srgbClr val="E1AB44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240280"/>
            <a:ext cx="2331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2395728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1">
                <a:solidFill>
                  <a:srgbClr val="377E4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761488"/>
            <a:ext cx="2011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Buyers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3200400"/>
            <a:ext cx="2011680" cy="6583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Search, compare
and place 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907792"/>
            <a:ext cx="36576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2400" b="1">
                <a:solidFill>
                  <a:srgbClr val="E1AB44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2240280"/>
            <a:ext cx="2331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91472" y="2395728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1">
                <a:solidFill>
                  <a:srgbClr val="377E4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2761488"/>
            <a:ext cx="2011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Shared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3200400"/>
            <a:ext cx="2011680" cy="6583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Group orders and
suggest practical routes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800600"/>
            <a:ext cx="10287000" cy="731520"/>
          </a:xfrm>
          <a:prstGeom prst="roundRect">
            <a:avLst/>
          </a:prstGeom>
          <a:solidFill>
            <a:srgbClr val="193F2E"/>
          </a:solidFill>
          <a:ln>
            <a:solidFill>
              <a:srgbClr val="19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010912"/>
            <a:ext cx="973836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Core idea: identify who needs produce, where it is needed, and how it can reach them efficiently.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193F2E"/>
                </a:solidFill>
                <a:latin typeface="Aptos"/>
              </a:rPr>
              <a:t>How FarmLink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731520" cy="50292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900" b="0">
                <a:solidFill>
                  <a:srgbClr val="5D6C62"/>
                </a:solidFill>
                <a:latin typeface="Aptos"/>
              </a:rPr>
              <a:t>SIH 26033  •  FARMLINK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5D6C62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554480"/>
            <a:ext cx="438912" cy="438912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36776"/>
            <a:ext cx="438912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572768"/>
            <a:ext cx="23317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292608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Farmers, FPOs and buyers create profiles.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716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1554480"/>
            <a:ext cx="438912" cy="438912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636776"/>
            <a:ext cx="438912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1572768"/>
            <a:ext cx="23317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List harvest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103120"/>
            <a:ext cx="292608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Add crop, quantity, expected price and harvest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3716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0" y="1554480"/>
            <a:ext cx="438912" cy="438912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636776"/>
            <a:ext cx="438912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1572768"/>
            <a:ext cx="23317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Find a 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103120"/>
            <a:ext cx="292608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Search nearby produce and compare supply with demand.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4290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3611880"/>
            <a:ext cx="438912" cy="438912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694176"/>
            <a:ext cx="438912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630168"/>
            <a:ext cx="23317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Confirm 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160520"/>
            <a:ext cx="292608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Agree on quantity, price and delivery timing.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4290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09160" y="3611880"/>
            <a:ext cx="438912" cy="438912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3694176"/>
            <a:ext cx="438912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6088" y="3630168"/>
            <a:ext cx="23317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Group 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4160520"/>
            <a:ext cx="292608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Combine compatible orders where practical.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4290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03920" y="3611880"/>
            <a:ext cx="438912" cy="438912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3694176"/>
            <a:ext cx="438912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3630168"/>
            <a:ext cx="23317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Track and learn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4160520"/>
            <a:ext cx="292608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Share updates and measure outcomes.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806440"/>
            <a:ext cx="1060704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377E4F"/>
                </a:solidFill>
                <a:latin typeface="Aptos"/>
              </a:rPr>
              <a:t>The first version can demonstrate the workflow with sample data before a real-world pilot.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193F2E"/>
                </a:solidFill>
                <a:latin typeface="Aptos"/>
              </a:rPr>
              <a:t>Key Features for Farmers and Buyers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731520" cy="50292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900" b="0">
                <a:solidFill>
                  <a:srgbClr val="5D6C62"/>
                </a:solidFill>
                <a:latin typeface="Aptos"/>
              </a:rPr>
              <a:t>SIH 26033  •  FARMLINK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5D6C62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82296" cy="1828800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304495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Harvest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65376"/>
            <a:ext cx="3044952" cy="11887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Farmers list expected harvests early and seek buyers before produce is ready.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82296" cy="1828800"/>
          </a:xfrm>
          <a:prstGeom prst="rect">
            <a:avLst/>
          </a:prstGeom>
          <a:solidFill>
            <a:srgbClr val="E1AB44"/>
          </a:solidFill>
          <a:ln>
            <a:solidFill>
              <a:srgbClr val="E1A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472184"/>
            <a:ext cx="304495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Nearby Buyer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65376"/>
            <a:ext cx="3044952" cy="11887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Prioritize potential buyers within a practical delivery distance.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82296" cy="1828800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472184"/>
            <a:ext cx="304495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Shared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865376"/>
            <a:ext cx="3044952" cy="11887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Combine compatible household, shop, hotel and bulk-buyer orders.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204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520440"/>
            <a:ext cx="82296" cy="1828800"/>
          </a:xfrm>
          <a:prstGeom prst="rect">
            <a:avLst/>
          </a:prstGeom>
          <a:solidFill>
            <a:srgbClr val="E1AB44"/>
          </a:solidFill>
          <a:ln>
            <a:solidFill>
              <a:srgbClr val="E1A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666744"/>
            <a:ext cx="304495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Real Earnings Calculator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059936"/>
            <a:ext cx="3044952" cy="11887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Estimate what remains after transport and packaging expenses.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5204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520440"/>
            <a:ext cx="82296" cy="1828800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666744"/>
            <a:ext cx="304495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Price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059936"/>
            <a:ext cx="3044952" cy="11887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Show available seller prices and quantities when reliable data exists.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5204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520440"/>
            <a:ext cx="82296" cy="1828800"/>
          </a:xfrm>
          <a:prstGeom prst="rect">
            <a:avLst/>
          </a:prstGeom>
          <a:solidFill>
            <a:srgbClr val="E1AB44"/>
          </a:solidFill>
          <a:ln>
            <a:solidFill>
              <a:srgbClr val="E1A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666744"/>
            <a:ext cx="304495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Order Updates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059936"/>
            <a:ext cx="3044952" cy="11887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Confirm orders and communicate availability or delivery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193F2E"/>
                </a:solidFill>
                <a:latin typeface="Aptos"/>
              </a:rPr>
              <a:t>Innovation: Harvest-to-Home Matching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731520" cy="50292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900" b="0">
                <a:solidFill>
                  <a:srgbClr val="5D6C62"/>
                </a:solidFill>
                <a:latin typeface="Aptos"/>
              </a:rPr>
              <a:t>SIH 26033  •  FARMLINK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5D6C62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34440"/>
            <a:ext cx="10698480" cy="594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000" b="1">
                <a:solidFill>
                  <a:srgbClr val="193F2E"/>
                </a:solidFill>
                <a:latin typeface="Aptos"/>
              </a:rPr>
              <a:t>FarmLink goes beyond listing produce: it connects expected future supply with local demand and shared transportation.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3337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6400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E1AB44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07792"/>
            <a:ext cx="283464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800" b="1">
                <a:solidFill>
                  <a:srgbClr val="193F2E"/>
                </a:solidFill>
                <a:latin typeface="Aptos"/>
              </a:rPr>
              <a:t>Harvest Alert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01568"/>
            <a:ext cx="2834640" cy="6583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Farmer enters expected crop, quantity and approximate ready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240280"/>
            <a:ext cx="3337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468880"/>
            <a:ext cx="6400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E1AB44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907792"/>
            <a:ext cx="283464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800" b="1">
                <a:solidFill>
                  <a:srgbClr val="193F2E"/>
                </a:solidFill>
                <a:latin typeface="Aptos"/>
              </a:rPr>
              <a:t>Demand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401568"/>
            <a:ext cx="2834640" cy="6583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Check nearby households, shops, restaurants and bulk buyers.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2240280"/>
            <a:ext cx="3337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468880"/>
            <a:ext cx="6400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E1AB44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907792"/>
            <a:ext cx="283464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800" b="1">
                <a:solidFill>
                  <a:srgbClr val="193F2E"/>
                </a:solidFill>
                <a:latin typeface="Aptos"/>
              </a:rPr>
              <a:t>Shared Delivery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401568"/>
            <a:ext cx="2834640" cy="6583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Suggest a combined route when enough compatible orders exist.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754880"/>
            <a:ext cx="10287000" cy="777240"/>
          </a:xfrm>
          <a:prstGeom prst="roundRect">
            <a:avLst/>
          </a:prstGeom>
          <a:solidFill>
            <a:srgbClr val="E5EFDC"/>
          </a:solidFill>
          <a:ln>
            <a:solidFill>
              <a:srgbClr val="E5E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956048"/>
            <a:ext cx="992124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500" b="1">
                <a:solidFill>
                  <a:srgbClr val="193F2E"/>
                </a:solidFill>
                <a:latin typeface="Aptos"/>
              </a:rPr>
              <a:t>Example: 100 kg of tomatoes expected in 2 days; if demand is 70 kg, the farmer gets an early signal to seek more buyers.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760720"/>
            <a:ext cx="1033272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300" b="0">
                <a:solidFill>
                  <a:srgbClr val="5D6C62"/>
                </a:solidFill>
                <a:latin typeface="Aptos"/>
              </a:rPr>
              <a:t>It supports better decisions but cannot guarantee that all produce will be sold.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193F2E"/>
                </a:solidFill>
                <a:latin typeface="Aptos"/>
              </a:rPr>
              <a:t>Smart Matching, AI and Delivery Planning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731520" cy="50292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900" b="0">
                <a:solidFill>
                  <a:srgbClr val="5D6C62"/>
                </a:solidFill>
                <a:latin typeface="Aptos"/>
              </a:rPr>
              <a:t>SIH 26033  •  FARMLINK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5D6C62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82296" cy="1828800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17904"/>
            <a:ext cx="304495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Demand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11095"/>
            <a:ext cx="3044952" cy="11887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Use historical orders, seasonal patterns and market information to estimate demand.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82296" cy="1828800"/>
          </a:xfrm>
          <a:prstGeom prst="rect">
            <a:avLst/>
          </a:prstGeom>
          <a:solidFill>
            <a:srgbClr val="E1AB44"/>
          </a:solidFill>
          <a:ln>
            <a:solidFill>
              <a:srgbClr val="E1A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17904"/>
            <a:ext cx="304495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Supply–Demand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11095"/>
            <a:ext cx="3044952" cy="11887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Compare expected harvest quantity with buyer requests and flag gaps.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82296" cy="1828800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17904"/>
            <a:ext cx="304495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Route Suggestions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11095"/>
            <a:ext cx="3044952" cy="11887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Use buyer locations, distance and vehicle capacity to suggest practical routes.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657600"/>
            <a:ext cx="10652760" cy="1325880"/>
          </a:xfrm>
          <a:prstGeom prst="roundRect">
            <a:avLst/>
          </a:prstGeom>
          <a:solidFill>
            <a:srgbClr val="193F2E"/>
          </a:solidFill>
          <a:ln>
            <a:solidFill>
              <a:srgbClr val="19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886200"/>
            <a:ext cx="18288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800" b="1">
                <a:solidFill>
                  <a:srgbClr val="BEDA85"/>
                </a:solidFill>
                <a:latin typeface="Aptos"/>
              </a:rPr>
              <a:t>Build in stages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840480"/>
            <a:ext cx="8046720" cy="6400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Start with rule-based matching and delivery grouping. Add machine learning after collecting enough useful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40680"/>
            <a:ext cx="1042416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0">
                <a:solidFill>
                  <a:srgbClr val="5D6C62"/>
                </a:solidFill>
                <a:latin typeface="Aptos"/>
              </a:rPr>
              <a:t>Price comparison depends on reliable local market data being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193F2E"/>
                </a:solidFill>
                <a:latin typeface="Aptos"/>
              </a:rPr>
              <a:t>Technical Approach: Student-Friendly Prototype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731520" cy="50292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900" b="0">
                <a:solidFill>
                  <a:srgbClr val="5D6C62"/>
                </a:solidFill>
                <a:latin typeface="Aptos"/>
              </a:rPr>
              <a:t>SIH 26033  •  FARMLINK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5D6C62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80160"/>
            <a:ext cx="47548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280160"/>
            <a:ext cx="109728" cy="749808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389888"/>
            <a:ext cx="16002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1">
                <a:solidFill>
                  <a:srgbClr val="377E4F"/>
                </a:solidFill>
                <a:latin typeface="Aptos"/>
              </a:rPr>
              <a:t>USER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371600"/>
            <a:ext cx="269748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1">
                <a:solidFill>
                  <a:srgbClr val="193F2E"/>
                </a:solidFill>
                <a:latin typeface="Aptos"/>
              </a:rPr>
              <a:t>HTML • CSS • JavaScript; React if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47548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331720"/>
            <a:ext cx="109728" cy="749808"/>
          </a:xfrm>
          <a:prstGeom prst="rect">
            <a:avLst/>
          </a:prstGeom>
          <a:solidFill>
            <a:srgbClr val="E1AB44"/>
          </a:solidFill>
          <a:ln>
            <a:solidFill>
              <a:srgbClr val="E1A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441448"/>
            <a:ext cx="16002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1">
                <a:solidFill>
                  <a:srgbClr val="377E4F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423160"/>
            <a:ext cx="269748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1">
                <a:solidFill>
                  <a:srgbClr val="193F2E"/>
                </a:solidFill>
                <a:latin typeface="Aptos"/>
              </a:rPr>
              <a:t>Python with Flask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83279"/>
            <a:ext cx="47548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83279"/>
            <a:ext cx="109728" cy="749808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493008"/>
            <a:ext cx="16002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1">
                <a:solidFill>
                  <a:srgbClr val="377E4F"/>
                </a:solidFill>
                <a:latin typeface="Aptos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474720"/>
            <a:ext cx="269748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1">
                <a:solidFill>
                  <a:srgbClr val="193F2E"/>
                </a:solidFill>
                <a:latin typeface="Aptos"/>
              </a:rPr>
              <a:t>SQLite initially; PostgreSQL for expansion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434840"/>
            <a:ext cx="47548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434840"/>
            <a:ext cx="109728" cy="749808"/>
          </a:xfrm>
          <a:prstGeom prst="rect">
            <a:avLst/>
          </a:prstGeom>
          <a:solidFill>
            <a:srgbClr val="E1AB44"/>
          </a:solidFill>
          <a:ln>
            <a:solidFill>
              <a:srgbClr val="E1A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544568"/>
            <a:ext cx="16002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1">
                <a:solidFill>
                  <a:srgbClr val="377E4F"/>
                </a:solidFill>
                <a:latin typeface="Aptos"/>
              </a:rPr>
              <a:t>SMART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526279"/>
            <a:ext cx="269748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1">
                <a:solidFill>
                  <a:srgbClr val="193F2E"/>
                </a:solidFill>
                <a:latin typeface="Aptos"/>
              </a:rPr>
              <a:t>Python / Scikit-learn; OpenStreetMap; OSRM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137160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1371600"/>
            <a:ext cx="82296" cy="1051560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1517904"/>
            <a:ext cx="478231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Maps and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1911095"/>
            <a:ext cx="4782312" cy="411479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OpenStreetMap for geographic data; OSRM or a basic route algorithm.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269748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89320" y="2697480"/>
            <a:ext cx="82296" cy="1051560"/>
          </a:xfrm>
          <a:prstGeom prst="rect">
            <a:avLst/>
          </a:prstGeom>
          <a:solidFill>
            <a:srgbClr val="E1AB44"/>
          </a:solidFill>
          <a:ln>
            <a:solidFill>
              <a:srgbClr val="E1A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2843784"/>
            <a:ext cx="478231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0488" y="3236976"/>
            <a:ext cx="4782312" cy="411479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A suitable free or low-cost hosting service for the prototype.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402336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9320" y="4023360"/>
            <a:ext cx="82296" cy="1051560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0488" y="4169664"/>
            <a:ext cx="478231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Development principle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0488" y="4562856"/>
            <a:ext cx="4782312" cy="411479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Keep the first version small, testable and easy to improve.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193F2E"/>
                </a:solidFill>
                <a:latin typeface="Aptos"/>
              </a:rPr>
              <a:t>Feasibility: Start Small, Prove the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731520" cy="50292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900" b="0">
                <a:solidFill>
                  <a:srgbClr val="5D6C62"/>
                </a:solidFill>
                <a:latin typeface="Aptos"/>
              </a:rPr>
              <a:t>SIH 26033  •  FARMLINK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5D6C62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457200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100" b="1">
                <a:solidFill>
                  <a:srgbClr val="193F2E"/>
                </a:solidFill>
                <a:latin typeface="Aptos"/>
              </a:rPr>
              <a:t>First prototype scope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938528"/>
            <a:ext cx="109728" cy="109728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5349240" cy="585216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0">
                <a:solidFill>
                  <a:srgbClr val="26352C"/>
                </a:solidFill>
                <a:latin typeface="Aptos"/>
              </a:rPr>
              <a:t>Pilot one locality with a small group of users.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560320"/>
            <a:ext cx="109728" cy="109728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50592"/>
            <a:ext cx="5349240" cy="585216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0">
                <a:solidFill>
                  <a:srgbClr val="26352C"/>
                </a:solidFill>
                <a:latin typeface="Aptos"/>
              </a:rPr>
              <a:t>Begin with tomatoes, onions and bananas.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182112"/>
            <a:ext cx="109728" cy="109728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72384"/>
            <a:ext cx="5349240" cy="585216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0">
                <a:solidFill>
                  <a:srgbClr val="26352C"/>
                </a:solidFill>
                <a:latin typeface="Aptos"/>
              </a:rPr>
              <a:t>Let farmers list produce and buyers place sample orders.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803904"/>
            <a:ext cx="109728" cy="109728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94176"/>
            <a:ext cx="5349240" cy="585216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0">
                <a:solidFill>
                  <a:srgbClr val="26352C"/>
                </a:solidFill>
                <a:latin typeface="Aptos"/>
              </a:rPr>
              <a:t>Demonstrate matching, order grouping and route suggestions.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425696"/>
            <a:ext cx="109728" cy="109728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15968"/>
            <a:ext cx="5349240" cy="585216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0">
                <a:solidFill>
                  <a:srgbClr val="26352C"/>
                </a:solidFill>
                <a:latin typeface="Aptos"/>
              </a:rPr>
              <a:t>Use sample data first; seek local partners for later testing.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1463040"/>
            <a:ext cx="4251960" cy="3611880"/>
          </a:xfrm>
          <a:prstGeom prst="roundRect">
            <a:avLst/>
          </a:prstGeom>
          <a:solidFill>
            <a:srgbClr val="E5EFDC"/>
          </a:solidFill>
          <a:ln>
            <a:solidFill>
              <a:srgbClr val="E5E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783080"/>
            <a:ext cx="356616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900" b="1">
                <a:solidFill>
                  <a:srgbClr val="193F2E"/>
                </a:solidFill>
                <a:latin typeface="Aptos"/>
              </a:rPr>
              <a:t>Suggested build 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377440"/>
            <a:ext cx="34747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26352C"/>
                </a:solidFill>
                <a:latin typeface="Aptos"/>
              </a:rPr>
              <a:t>1. Farmer and buyer profiles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852928"/>
            <a:ext cx="34747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26352C"/>
                </a:solidFill>
                <a:latin typeface="Aptos"/>
              </a:rPr>
              <a:t>2. Produce listings and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328416"/>
            <a:ext cx="34747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26352C"/>
                </a:solidFill>
                <a:latin typeface="Aptos"/>
              </a:rPr>
              <a:t>3. Order confirmation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803904"/>
            <a:ext cx="34747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26352C"/>
                </a:solidFill>
                <a:latin typeface="Aptos"/>
              </a:rPr>
              <a:t>4. Matching and earnings calculator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279392"/>
            <a:ext cx="34747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26352C"/>
                </a:solidFill>
                <a:latin typeface="Aptos"/>
              </a:rPr>
              <a:t>5. Delivery grouping and route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69280"/>
            <a:ext cx="103327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377E4F"/>
                </a:solidFill>
                <a:latin typeface="Aptos"/>
              </a:rPr>
              <a:t>Keep AI optional until enough useful data exists to evaluate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193F2E"/>
                </a:solidFill>
                <a:latin typeface="Aptos"/>
              </a:rPr>
              <a:t>Challenges and How We Plan to Handle Them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731520" cy="50292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900" b="0">
                <a:solidFill>
                  <a:srgbClr val="5D6C62"/>
                </a:solidFill>
                <a:latin typeface="Aptos"/>
              </a:rPr>
              <a:t>SIH 26033  •  FARMLINK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5D6C62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61872"/>
            <a:ext cx="10744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99031"/>
            <a:ext cx="288036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1">
                <a:solidFill>
                  <a:srgbClr val="193F2E"/>
                </a:solidFill>
                <a:latin typeface="Aptos"/>
              </a:rPr>
              <a:t>Digital comfort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371600"/>
            <a:ext cx="36576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800" b="1">
                <a:solidFill>
                  <a:srgbClr val="E1AB44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399031"/>
            <a:ext cx="667512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Simple interface and regional-language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84248"/>
            <a:ext cx="10744200" cy="566928"/>
          </a:xfrm>
          <a:prstGeom prst="roundRect">
            <a:avLst/>
          </a:prstGeom>
          <a:solidFill>
            <a:srgbClr val="EFF3EA"/>
          </a:solidFill>
          <a:ln>
            <a:solidFill>
              <a:srgbClr val="E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21408"/>
            <a:ext cx="288036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1">
                <a:solidFill>
                  <a:srgbClr val="193F2E"/>
                </a:solidFill>
                <a:latin typeface="Aptos"/>
              </a:rPr>
              <a:t>Uncertain harvest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093976"/>
            <a:ext cx="36576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800" b="1">
                <a:solidFill>
                  <a:srgbClr val="E1AB44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21408"/>
            <a:ext cx="667512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Allow farmers to update expected quantity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06624"/>
            <a:ext cx="10744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843784"/>
            <a:ext cx="288036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1">
                <a:solidFill>
                  <a:srgbClr val="193F2E"/>
                </a:solidFill>
                <a:latin typeface="Aptos"/>
              </a:rPr>
              <a:t>Order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816352"/>
            <a:ext cx="36576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800" b="1">
                <a:solidFill>
                  <a:srgbClr val="E1AB44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843784"/>
            <a:ext cx="667512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Confirm orders before arranging transport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29000"/>
            <a:ext cx="10744200" cy="566928"/>
          </a:xfrm>
          <a:prstGeom prst="roundRect">
            <a:avLst/>
          </a:prstGeom>
          <a:solidFill>
            <a:srgbClr val="EFF3EA"/>
          </a:solidFill>
          <a:ln>
            <a:solidFill>
              <a:srgbClr val="E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66160"/>
            <a:ext cx="288036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1">
                <a:solidFill>
                  <a:srgbClr val="193F2E"/>
                </a:solidFill>
                <a:latin typeface="Aptos"/>
              </a:rPr>
              <a:t>Perishable produce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538728"/>
            <a:ext cx="36576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800" b="1">
                <a:solidFill>
                  <a:srgbClr val="E1AB44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566160"/>
            <a:ext cx="667512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Prioritize time-sensitive products and delivery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51376"/>
            <a:ext cx="10744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88536"/>
            <a:ext cx="288036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1">
                <a:solidFill>
                  <a:srgbClr val="193F2E"/>
                </a:solidFill>
                <a:latin typeface="Aptos"/>
              </a:rPr>
              <a:t>Limited AI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261104"/>
            <a:ext cx="36576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800" b="1">
                <a:solidFill>
                  <a:srgbClr val="E1AB44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288536"/>
            <a:ext cx="667512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Start with simple rules and improve with real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73752"/>
            <a:ext cx="10744200" cy="566928"/>
          </a:xfrm>
          <a:prstGeom prst="roundRect">
            <a:avLst/>
          </a:prstGeom>
          <a:solidFill>
            <a:srgbClr val="EFF3EA"/>
          </a:solidFill>
          <a:ln>
            <a:solidFill>
              <a:srgbClr val="E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010912"/>
            <a:ext cx="288036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1">
                <a:solidFill>
                  <a:srgbClr val="193F2E"/>
                </a:solidFill>
                <a:latin typeface="Aptos"/>
              </a:rPr>
              <a:t>Uneconomical small 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983480"/>
            <a:ext cx="36576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800" b="1">
                <a:solidFill>
                  <a:srgbClr val="E1AB44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010912"/>
            <a:ext cx="667512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Set minimum combined quantities or show delivery cost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193F2E"/>
                </a:solidFill>
                <a:latin typeface="Aptos"/>
              </a:rPr>
              <a:t>Expected Benefits and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731520" cy="50292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900" b="0">
                <a:solidFill>
                  <a:srgbClr val="5D6C62"/>
                </a:solidFill>
                <a:latin typeface="Aptos"/>
              </a:rPr>
              <a:t>SIH 26033  •  FARMLINK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5D6C62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82296" cy="2011680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72184"/>
            <a:ext cx="304495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For Farmers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65376"/>
            <a:ext cx="3044952" cy="1371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5D6C62"/>
                </a:solidFill>
                <a:latin typeface="Aptos"/>
              </a:rPr>
              <a:t>More buyer options • clearer demand and price visibility • estimated earnings after delivery costs • less dependence on one sales channel.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82296" cy="2011680"/>
          </a:xfrm>
          <a:prstGeom prst="rect">
            <a:avLst/>
          </a:prstGeom>
          <a:solidFill>
            <a:srgbClr val="E1AB44"/>
          </a:solidFill>
          <a:ln>
            <a:solidFill>
              <a:srgbClr val="E1A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472184"/>
            <a:ext cx="304495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For Consumers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65376"/>
            <a:ext cx="3044952" cy="1371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5D6C62"/>
                </a:solidFill>
                <a:latin typeface="Aptos"/>
              </a:rPr>
              <a:t>Nearby produce • easier price comparison • potentially lower distribution costs • clearer availability and harvest timing.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82296" cy="2011680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472184"/>
            <a:ext cx="304495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For the Environment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65376"/>
            <a:ext cx="3044952" cy="1371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5D6C62"/>
                </a:solidFill>
                <a:latin typeface="Aptos"/>
              </a:rPr>
              <a:t>Fewer unnecessary trips when orders are combined • potential reduction in food waste • more efficient vehicle use.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0424160" cy="4572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900" b="1">
                <a:solidFill>
                  <a:srgbClr val="193F2E"/>
                </a:solidFill>
                <a:latin typeface="Aptos"/>
              </a:rPr>
              <a:t>These are intended benefits, not guaranteed outcomes. We will test them through a pilot.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9966960" cy="7315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0">
                <a:solidFill>
                  <a:srgbClr val="5D6C62"/>
                </a:solidFill>
                <a:latin typeface="Aptos"/>
              </a:rPr>
              <a:t>The goal is not to remove every intermediary, but to improve transparency, choice and coordination across the supply chain.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193F2E"/>
                </a:solidFill>
                <a:latin typeface="Aptos"/>
              </a:rPr>
              <a:t>How We Will Measure Whether FarmLink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731520" cy="50292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900" b="0">
                <a:solidFill>
                  <a:srgbClr val="5D6C62"/>
                </a:solidFill>
                <a:latin typeface="Aptos"/>
              </a:rPr>
              <a:t>SIH 26033  •  FARMLINK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5D6C62"/>
                </a:solidFill>
                <a:latin typeface="Aptos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335024"/>
            <a:ext cx="411480" cy="411480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19"/>
            <a:ext cx="41148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325880"/>
            <a:ext cx="274320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193F2E"/>
                </a:solidFill>
                <a:latin typeface="Aptos"/>
              </a:rPr>
              <a:t>Farmer earnings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325880"/>
            <a:ext cx="6492240" cy="38404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0">
                <a:solidFill>
                  <a:srgbClr val="5D6C62"/>
                </a:solidFill>
                <a:latin typeface="Aptos"/>
              </a:rPr>
              <a:t>Net amount after delivery expenses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194560"/>
            <a:ext cx="411480" cy="411480"/>
          </a:xfrm>
          <a:prstGeom prst="ellipse">
            <a:avLst/>
          </a:prstGeom>
          <a:solidFill>
            <a:srgbClr val="E1AB44"/>
          </a:solidFill>
          <a:ln>
            <a:solidFill>
              <a:srgbClr val="E1A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76856"/>
            <a:ext cx="41148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85415"/>
            <a:ext cx="274320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193F2E"/>
                </a:solidFill>
                <a:latin typeface="Aptos"/>
              </a:rPr>
              <a:t>Buyer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185415"/>
            <a:ext cx="6492240" cy="38404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0">
                <a:solidFill>
                  <a:srgbClr val="5D6C62"/>
                </a:solidFill>
                <a:latin typeface="Aptos"/>
              </a:rPr>
              <a:t>Price for the same quantity and quality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054096"/>
            <a:ext cx="411480" cy="411480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36391"/>
            <a:ext cx="41148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044951"/>
            <a:ext cx="274320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193F2E"/>
                </a:solidFill>
                <a:latin typeface="Aptos"/>
              </a:rPr>
              <a:t>Delivery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044951"/>
            <a:ext cx="6492240" cy="38404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0">
                <a:solidFill>
                  <a:srgbClr val="5D6C62"/>
                </a:solidFill>
                <a:latin typeface="Aptos"/>
              </a:rPr>
              <a:t>Orders combined and distance travelled per order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913631"/>
            <a:ext cx="411480" cy="411480"/>
          </a:xfrm>
          <a:prstGeom prst="ellipse">
            <a:avLst/>
          </a:prstGeom>
          <a:solidFill>
            <a:srgbClr val="E1AB44"/>
          </a:solidFill>
          <a:ln>
            <a:solidFill>
              <a:srgbClr val="E1A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95928"/>
            <a:ext cx="41148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04487"/>
            <a:ext cx="274320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193F2E"/>
                </a:solidFill>
                <a:latin typeface="Aptos"/>
              </a:rPr>
              <a:t>Food waste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904487"/>
            <a:ext cx="6492240" cy="38404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0">
                <a:solidFill>
                  <a:srgbClr val="5D6C62"/>
                </a:solidFill>
                <a:latin typeface="Aptos"/>
              </a:rPr>
              <a:t>Amount of produce left unsold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773168"/>
            <a:ext cx="411480" cy="411480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55464"/>
            <a:ext cx="41148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764024"/>
            <a:ext cx="274320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193F2E"/>
                </a:solidFill>
                <a:latin typeface="Aptos"/>
              </a:rPr>
              <a:t>User adoption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4764024"/>
            <a:ext cx="6492240" cy="38404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0">
                <a:solidFill>
                  <a:srgbClr val="5D6C62"/>
                </a:solidFill>
                <a:latin typeface="Aptos"/>
              </a:rPr>
              <a:t>Number of buyers who return to use the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715000"/>
            <a:ext cx="1042416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377E4F"/>
                </a:solidFill>
                <a:latin typeface="Aptos"/>
              </a:rPr>
              <a:t>Compare pilot results with the existing selling method; report actual findings rather than assumed savings.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193F2E"/>
                </a:solidFill>
                <a:latin typeface="Aptos"/>
              </a:rPr>
              <a:t>Pilot Plan and Practical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731520" cy="50292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900" b="0">
                <a:solidFill>
                  <a:srgbClr val="5D6C62"/>
                </a:solidFill>
                <a:latin typeface="Aptos"/>
              </a:rPr>
              <a:t>SIH 26033  •  FARMLINK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5D6C62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82296" cy="1828800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17904"/>
            <a:ext cx="304495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Phase 1 •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11095"/>
            <a:ext cx="3044952" cy="11887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Build listings, buyer search, order confirmation and the earnings calculator.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82296" cy="1828800"/>
          </a:xfrm>
          <a:prstGeom prst="rect">
            <a:avLst/>
          </a:prstGeom>
          <a:solidFill>
            <a:srgbClr val="E1AB44"/>
          </a:solidFill>
          <a:ln>
            <a:solidFill>
              <a:srgbClr val="E1A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17904"/>
            <a:ext cx="304495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Phase 2 • 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11095"/>
            <a:ext cx="3044952" cy="11887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Use sample data to show matching, order grouping and route suggestions.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82296" cy="1828800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17904"/>
            <a:ext cx="3044952" cy="329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193F2E"/>
                </a:solidFill>
                <a:latin typeface="Aptos"/>
              </a:rPr>
              <a:t>Phase 3 •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11095"/>
            <a:ext cx="3044952" cy="11887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If partnerships are available, test with real farmers and buyers in one locality.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94760"/>
            <a:ext cx="384048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000" b="1">
                <a:solidFill>
                  <a:srgbClr val="193F2E"/>
                </a:solidFill>
                <a:latin typeface="Aptos"/>
              </a:rPr>
              <a:t>Important considerations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453128"/>
            <a:ext cx="109728" cy="109728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343400"/>
            <a:ext cx="10012680" cy="402336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0">
                <a:solidFill>
                  <a:srgbClr val="26352C"/>
                </a:solidFill>
                <a:latin typeface="Aptos"/>
              </a:rPr>
              <a:t>Confirm orders before arranging transport.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892040"/>
            <a:ext cx="109728" cy="109728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782312"/>
            <a:ext cx="10012680" cy="402336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0">
                <a:solidFill>
                  <a:srgbClr val="26352C"/>
                </a:solidFill>
                <a:latin typeface="Aptos"/>
              </a:rPr>
              <a:t>Show delivery costs before buyers commit.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5330952"/>
            <a:ext cx="109728" cy="109728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221224"/>
            <a:ext cx="10012680" cy="402336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0">
                <a:solidFill>
                  <a:srgbClr val="26352C"/>
                </a:solidFill>
                <a:latin typeface="Aptos"/>
              </a:rPr>
              <a:t>Support regional languages and changing harvest estimates.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5769864"/>
            <a:ext cx="109728" cy="109728"/>
          </a:xfrm>
          <a:prstGeom prst="ellipse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660136"/>
            <a:ext cx="10012680" cy="402336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0">
                <a:solidFill>
                  <a:srgbClr val="26352C"/>
                </a:solidFill>
                <a:latin typeface="Aptos"/>
              </a:rPr>
              <a:t>Treat AI predictions as estimates, not guarantees.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193F2E"/>
                </a:solidFill>
                <a:latin typeface="Aptos"/>
              </a:rPr>
              <a:t>Research and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731520" cy="50292"/>
          </a:xfrm>
          <a:prstGeom prst="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900" b="0">
                <a:solidFill>
                  <a:srgbClr val="5D6C62"/>
                </a:solidFill>
                <a:latin typeface="Aptos"/>
              </a:rPr>
              <a:t>SIH 26033  •  FARMLINK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5D6C62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315468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193F2E"/>
                </a:solidFill>
                <a:latin typeface="Aptos"/>
              </a:rPr>
              <a:t>e-NAM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34440"/>
            <a:ext cx="402336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377E4F"/>
                </a:solidFill>
                <a:latin typeface="Aptos"/>
              </a:rPr>
              <a:t>https://www.enam.gov.in/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234440"/>
            <a:ext cx="347472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5D6C62"/>
                </a:solidFill>
                <a:latin typeface="Aptos"/>
              </a:rPr>
              <a:t>Electronic agricultural trading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84248"/>
            <a:ext cx="315468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193F2E"/>
                </a:solidFill>
                <a:latin typeface="Aptos"/>
              </a:rPr>
              <a:t>AGMARKNET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84248"/>
            <a:ext cx="402336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377E4F"/>
                </a:solidFill>
                <a:latin typeface="Aptos"/>
              </a:rPr>
              <a:t>https://agmarknet.gov.in/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984248"/>
            <a:ext cx="347472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5D6C62"/>
                </a:solidFill>
                <a:latin typeface="Aptos"/>
              </a:rPr>
              <a:t>Agricultural market prices and arrivals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315468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193F2E"/>
                </a:solidFill>
                <a:latin typeface="Aptos"/>
              </a:rPr>
              <a:t>Ministry of Agriculture and Farmers Welfare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34056"/>
            <a:ext cx="402336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377E4F"/>
                </a:solidFill>
                <a:latin typeface="Aptos"/>
              </a:rPr>
              <a:t>https://agriwelfare.gov.in/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734056"/>
            <a:ext cx="347472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5D6C62"/>
                </a:solidFill>
                <a:latin typeface="Aptos"/>
              </a:rPr>
              <a:t>Policies and farmer support initiatives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83864"/>
            <a:ext cx="315468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193F2E"/>
                </a:solidFill>
                <a:latin typeface="Aptos"/>
              </a:rPr>
              <a:t>OpenStreetMap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483864"/>
            <a:ext cx="402336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377E4F"/>
                </a:solidFill>
                <a:latin typeface="Aptos"/>
              </a:rPr>
              <a:t>https://www.openstreetmap.org/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483864"/>
            <a:ext cx="347472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5D6C62"/>
                </a:solidFill>
                <a:latin typeface="Aptos"/>
              </a:rPr>
              <a:t>Geographic and mapping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33672"/>
            <a:ext cx="315468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193F2E"/>
                </a:solidFill>
                <a:latin typeface="Aptos"/>
              </a:rPr>
              <a:t>OSRM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233672"/>
            <a:ext cx="402336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377E4F"/>
                </a:solidFill>
                <a:latin typeface="Aptos"/>
              </a:rPr>
              <a:t>https://project-osrm.org/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233672"/>
            <a:ext cx="347472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5D6C62"/>
                </a:solidFill>
                <a:latin typeface="Aptos"/>
              </a:rPr>
              <a:t>Route calculation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83479"/>
            <a:ext cx="315468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193F2E"/>
                </a:solidFill>
                <a:latin typeface="Aptos"/>
              </a:rPr>
              <a:t>Scikit-learn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83479"/>
            <a:ext cx="402336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377E4F"/>
                </a:solidFill>
                <a:latin typeface="Aptos"/>
              </a:rPr>
              <a:t>https://scikit-learn.org/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983479"/>
            <a:ext cx="347472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5D6C62"/>
                </a:solidFill>
                <a:latin typeface="Aptos"/>
              </a:rPr>
              <a:t>Machine-learning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97880"/>
            <a:ext cx="102412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5D6C62"/>
                </a:solidFill>
                <a:latin typeface="Aptos"/>
              </a:rPr>
              <a:t>Data availability and suitability must be checked for the selected locality.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6675120" cy="7772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FarmLink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8046720" cy="4572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400" b="1">
                <a:solidFill>
                  <a:srgbClr val="BEDA85"/>
                </a:solidFill>
                <a:latin typeface="Aptos"/>
              </a:rPr>
              <a:t>From Our Farms to Our Homes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23160"/>
            <a:ext cx="9875520" cy="7315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Why should a farmer struggle to find a buyer when people nearby may already need the same produce?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74720"/>
            <a:ext cx="9692640" cy="7772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800" b="0">
                <a:solidFill>
                  <a:srgbClr val="DEEBDF"/>
                </a:solidFill>
                <a:latin typeface="Aptos"/>
              </a:rPr>
              <a:t>Our aim is to match upcoming harvests with local demand, group nearby orders, and help farmers understand their actual earnings.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800600"/>
            <a:ext cx="10012680" cy="822960"/>
          </a:xfrm>
          <a:prstGeom prst="roundRect">
            <a:avLst/>
          </a:prstGeom>
          <a:solidFill>
            <a:srgbClr val="377E4F"/>
          </a:solidFill>
          <a:ln>
            <a:solidFill>
              <a:srgbClr val="37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056632"/>
            <a:ext cx="95554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Start small • Test with users • Measure results • Improve with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80760"/>
            <a:ext cx="274320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900" b="1">
                <a:solidFill>
                  <a:srgbClr val="BEDA85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